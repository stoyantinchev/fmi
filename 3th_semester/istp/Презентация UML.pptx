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4fe93bf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b4fe93bf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b4fe93bf3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b4fe93bf3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b4fe93bf3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b4fe93bf3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4fdb80bc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b4fdb80bc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Клас: Заявител (Applicant)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Описание:</a:t>
            </a:r>
            <a:r>
              <a:rPr lang="en">
                <a:solidFill>
                  <a:schemeClr val="dk1"/>
                </a:solidFill>
              </a:rPr>
              <a:t> Представлява лицето, което иска да се регистрира за предоставяне на услуги, свързани с помощни средства и медицински изделия за хора с увреждания. </a:t>
            </a:r>
            <a:r>
              <a:rPr b="1" lang="en">
                <a:solidFill>
                  <a:schemeClr val="dk1"/>
                </a:solidFill>
              </a:rPr>
              <a:t>Атрибути: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name: Името на заявителя.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contactDetails: Контактните детайли на заявителя, като телефонен номер и електронна поща.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Клас: Заявление (Application)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Описание:</a:t>
            </a:r>
            <a:r>
              <a:rPr lang="en">
                <a:solidFill>
                  <a:schemeClr val="dk1"/>
                </a:solidFill>
              </a:rPr>
              <a:t> Съдържа всички необходими детайли за заявлението, което заявителят подава към Изпълнителната агенция по лекарствата. </a:t>
            </a:r>
            <a:r>
              <a:rPr b="1" lang="en">
                <a:solidFill>
                  <a:schemeClr val="dk1"/>
                </a:solidFill>
              </a:rPr>
              <a:t>Атрибути: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050">
                <a:solidFill>
                  <a:schemeClr val="dk1"/>
                </a:solidFill>
              </a:rPr>
              <a:t>applicationId</a:t>
            </a:r>
            <a:r>
              <a:rPr lang="en" sz="1200">
                <a:solidFill>
                  <a:schemeClr val="dk1"/>
                </a:solidFill>
              </a:rPr>
              <a:t>: Уникален идентификатор на заявлението.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050">
                <a:solidFill>
                  <a:schemeClr val="dk1"/>
                </a:solidFill>
              </a:rPr>
              <a:t>applicantDetails</a:t>
            </a:r>
            <a:r>
              <a:rPr lang="en" sz="1200">
                <a:solidFill>
                  <a:schemeClr val="dk1"/>
                </a:solidFill>
              </a:rPr>
              <a:t>: Детайли, свързани с заявителя.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050">
                <a:solidFill>
                  <a:schemeClr val="dk1"/>
                </a:solidFill>
              </a:rPr>
              <a:t>serviceDetails</a:t>
            </a:r>
            <a:r>
              <a:rPr lang="en" sz="1200">
                <a:solidFill>
                  <a:schemeClr val="dk1"/>
                </a:solidFill>
              </a:rPr>
              <a:t>: Информация за услугите, които заявителят желае да предоставя.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050">
                <a:solidFill>
                  <a:schemeClr val="dk1"/>
                </a:solidFill>
              </a:rPr>
              <a:t>submissionDate</a:t>
            </a:r>
            <a:r>
              <a:rPr lang="en" sz="1200">
                <a:solidFill>
                  <a:schemeClr val="dk1"/>
                </a:solidFill>
              </a:rPr>
              <a:t>: Дата на подаване на заявлението.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Клас: Изпълнителна агенция по лекарствата (Drug Administration Agency)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Описание:</a:t>
            </a:r>
            <a:r>
              <a:rPr lang="en">
                <a:solidFill>
                  <a:schemeClr val="dk1"/>
                </a:solidFill>
              </a:rPr>
              <a:t> Органът, който обработва подадените заявления и издава удостоверения за регистрация. </a:t>
            </a:r>
            <a:r>
              <a:rPr b="1" lang="en">
                <a:solidFill>
                  <a:schemeClr val="dk1"/>
                </a:solidFill>
              </a:rPr>
              <a:t>Атрибути: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050">
                <a:solidFill>
                  <a:schemeClr val="dk1"/>
                </a:solidFill>
              </a:rPr>
              <a:t>agencyName</a:t>
            </a:r>
            <a:r>
              <a:rPr lang="en" sz="1200">
                <a:solidFill>
                  <a:schemeClr val="dk1"/>
                </a:solidFill>
              </a:rPr>
              <a:t>: Наименованието на агенцията.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050">
                <a:solidFill>
                  <a:schemeClr val="dk1"/>
                </a:solidFill>
              </a:rPr>
              <a:t>contactInfo</a:t>
            </a:r>
            <a:r>
              <a:rPr lang="en" sz="1200">
                <a:solidFill>
                  <a:schemeClr val="dk1"/>
                </a:solidFill>
              </a:rPr>
              <a:t>: Контактна информация за агенцията. </a:t>
            </a:r>
            <a:r>
              <a:rPr b="1" lang="en" sz="1200">
                <a:solidFill>
                  <a:schemeClr val="dk1"/>
                </a:solidFill>
              </a:rPr>
              <a:t>Методи: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050">
                <a:solidFill>
                  <a:schemeClr val="dk1"/>
                </a:solidFill>
              </a:rPr>
              <a:t>processApplication(Application)</a:t>
            </a:r>
            <a:r>
              <a:rPr lang="en" sz="1200">
                <a:solidFill>
                  <a:schemeClr val="dk1"/>
                </a:solidFill>
              </a:rPr>
              <a:t>: Метод за обработка на подадените заявления.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Клас: Регистър (Registry)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Описание:</a:t>
            </a:r>
            <a:r>
              <a:rPr lang="en">
                <a:solidFill>
                  <a:schemeClr val="dk1"/>
                </a:solidFill>
              </a:rPr>
              <a:t> База данни, в която се записват всички регистрирани лица и тяхната предоставена услуга. </a:t>
            </a:r>
            <a:r>
              <a:rPr b="1" lang="en">
                <a:solidFill>
                  <a:schemeClr val="dk1"/>
                </a:solidFill>
              </a:rPr>
              <a:t>Атрибути: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050">
                <a:solidFill>
                  <a:schemeClr val="dk1"/>
                </a:solidFill>
              </a:rPr>
              <a:t>registryId</a:t>
            </a:r>
            <a:r>
              <a:rPr lang="en" sz="1200">
                <a:solidFill>
                  <a:schemeClr val="dk1"/>
                </a:solidFill>
              </a:rPr>
              <a:t>: Уникален идентификатор на регистъра.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050">
                <a:solidFill>
                  <a:schemeClr val="dk1"/>
                </a:solidFill>
              </a:rPr>
              <a:t>registeredServices</a:t>
            </a:r>
            <a:r>
              <a:rPr lang="en" sz="1200">
                <a:solidFill>
                  <a:schemeClr val="dk1"/>
                </a:solidFill>
              </a:rPr>
              <a:t>: Списък на регистрираните услуги. </a:t>
            </a:r>
            <a:r>
              <a:rPr b="1" lang="en" sz="1200">
                <a:solidFill>
                  <a:schemeClr val="dk1"/>
                </a:solidFill>
              </a:rPr>
              <a:t>Методи: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050">
                <a:solidFill>
                  <a:schemeClr val="dk1"/>
                </a:solidFill>
              </a:rPr>
              <a:t>register(Applicant, Application)</a:t>
            </a:r>
            <a:r>
              <a:rPr lang="en" sz="1200">
                <a:solidFill>
                  <a:schemeClr val="dk1"/>
                </a:solidFill>
              </a:rPr>
              <a:t>: Метод за регистриране на заявител в регистъра.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Клас: Индивидуален административен акт (Administrative Act)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Описание:</a:t>
            </a:r>
            <a:r>
              <a:rPr lang="en">
                <a:solidFill>
                  <a:schemeClr val="dk1"/>
                </a:solidFill>
              </a:rPr>
              <a:t> Документът, издаден от Изпълнителната агенция по лекарствата, който удостоверява регистрацията на заявителя. </a:t>
            </a:r>
            <a:r>
              <a:rPr b="1" lang="en">
                <a:solidFill>
                  <a:schemeClr val="dk1"/>
                </a:solidFill>
              </a:rPr>
              <a:t>Атрибути: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050">
                <a:solidFill>
                  <a:schemeClr val="dk1"/>
                </a:solidFill>
              </a:rPr>
              <a:t>actId</a:t>
            </a:r>
            <a:r>
              <a:rPr lang="en" sz="1200">
                <a:solidFill>
                  <a:schemeClr val="dk1"/>
                </a:solidFill>
              </a:rPr>
              <a:t>: Уникален идентификатор на акта.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050">
                <a:solidFill>
                  <a:schemeClr val="dk1"/>
                </a:solidFill>
              </a:rPr>
              <a:t>details</a:t>
            </a:r>
            <a:r>
              <a:rPr lang="en" sz="1200">
                <a:solidFill>
                  <a:schemeClr val="dk1"/>
                </a:solidFill>
              </a:rPr>
              <a:t>: Подробности за акта.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050">
                <a:solidFill>
                  <a:schemeClr val="dk1"/>
                </a:solidFill>
              </a:rPr>
              <a:t>issueDate</a:t>
            </a:r>
            <a:r>
              <a:rPr lang="en" sz="1200">
                <a:solidFill>
                  <a:schemeClr val="dk1"/>
                </a:solidFill>
              </a:rPr>
              <a:t>: Дата на издаване.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050">
                <a:solidFill>
                  <a:schemeClr val="dk1"/>
                </a:solidFill>
              </a:rPr>
              <a:t>isValid</a:t>
            </a:r>
            <a:r>
              <a:rPr lang="en" sz="1200">
                <a:solidFill>
                  <a:schemeClr val="dk1"/>
                </a:solidFill>
              </a:rPr>
              <a:t>: Булева стойност, указваща валидността на акта.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Клас: Орган за контрол (Control Authority)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Описание:</a:t>
            </a:r>
            <a:r>
              <a:rPr lang="en">
                <a:solidFill>
                  <a:schemeClr val="dk1"/>
                </a:solidFill>
              </a:rPr>
              <a:t> Орган, отговорен за надзора на дейността на Изпълнителната агенция по лекарствата и за съответствието със законодателството. Атрибути: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authorityName: Името на контролния орган.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jurisdiction: Правомощия и отговорности на контролния орган. Методи: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audit(Registry): Метод за извършване на одит върху регистъра и регистрираните лица.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Взаимоотношения между класовете: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 sz="1200">
                <a:solidFill>
                  <a:schemeClr val="dk1"/>
                </a:solidFill>
              </a:rPr>
              <a:t>Заявител</a:t>
            </a:r>
            <a:r>
              <a:rPr lang="en" sz="1200">
                <a:solidFill>
                  <a:schemeClr val="dk1"/>
                </a:solidFill>
              </a:rPr>
              <a:t> подава </a:t>
            </a:r>
            <a:r>
              <a:rPr b="1" lang="en" sz="1200">
                <a:solidFill>
                  <a:schemeClr val="dk1"/>
                </a:solidFill>
              </a:rPr>
              <a:t>Заявление</a:t>
            </a:r>
            <a:r>
              <a:rPr lang="en" sz="1200">
                <a:solidFill>
                  <a:schemeClr val="dk1"/>
                </a:solidFill>
              </a:rPr>
              <a:t> (</a:t>
            </a:r>
            <a:r>
              <a:rPr lang="en" sz="1050">
                <a:solidFill>
                  <a:schemeClr val="dk1"/>
                </a:solidFill>
              </a:rPr>
              <a:t>appliesWith</a:t>
            </a:r>
            <a:r>
              <a:rPr lang="en" sz="1200">
                <a:solidFill>
                  <a:schemeClr val="dk1"/>
                </a:solidFill>
              </a:rPr>
              <a:t>): Това взаимоотношение показва, че всеки заявител подава заявление за регистрация.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 sz="1200">
                <a:solidFill>
                  <a:schemeClr val="dk1"/>
                </a:solidFill>
              </a:rPr>
              <a:t>Заявление</a:t>
            </a:r>
            <a:r>
              <a:rPr lang="en" sz="1200">
                <a:solidFill>
                  <a:schemeClr val="dk1"/>
                </a:solidFill>
              </a:rPr>
              <a:t> се подава към </a:t>
            </a:r>
            <a:r>
              <a:rPr b="1" lang="en" sz="1200">
                <a:solidFill>
                  <a:schemeClr val="dk1"/>
                </a:solidFill>
              </a:rPr>
              <a:t>Изпълнителна агенция по лекарствата</a:t>
            </a:r>
            <a:r>
              <a:rPr lang="en" sz="1200">
                <a:solidFill>
                  <a:schemeClr val="dk1"/>
                </a:solidFill>
              </a:rPr>
              <a:t> (</a:t>
            </a:r>
            <a:r>
              <a:rPr lang="en" sz="1050">
                <a:solidFill>
                  <a:schemeClr val="dk1"/>
                </a:solidFill>
              </a:rPr>
              <a:t>submittedTo</a:t>
            </a:r>
            <a:r>
              <a:rPr lang="en" sz="1200">
                <a:solidFill>
                  <a:schemeClr val="dk1"/>
                </a:solidFill>
              </a:rPr>
              <a:t>): Всяко заявление се обработва от агенцията, която проверява информацията и решава дали да издаде административен акт.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 sz="1200">
                <a:solidFill>
                  <a:schemeClr val="dk1"/>
                </a:solidFill>
              </a:rPr>
              <a:t>Изпълнителна агенция по лекарствата</a:t>
            </a:r>
            <a:r>
              <a:rPr lang="en" sz="1200">
                <a:solidFill>
                  <a:schemeClr val="dk1"/>
                </a:solidFill>
              </a:rPr>
              <a:t> издава </a:t>
            </a:r>
            <a:r>
              <a:rPr b="1" lang="en" sz="1200">
                <a:solidFill>
                  <a:schemeClr val="dk1"/>
                </a:solidFill>
              </a:rPr>
              <a:t>Индивидуален административен акт</a:t>
            </a:r>
            <a:r>
              <a:rPr lang="en" sz="1200">
                <a:solidFill>
                  <a:schemeClr val="dk1"/>
                </a:solidFill>
              </a:rPr>
              <a:t> (</a:t>
            </a:r>
            <a:r>
              <a:rPr lang="en" sz="1050">
                <a:solidFill>
                  <a:schemeClr val="dk1"/>
                </a:solidFill>
              </a:rPr>
              <a:t>issues</a:t>
            </a:r>
            <a:r>
              <a:rPr lang="en" sz="1200">
                <a:solidFill>
                  <a:schemeClr val="dk1"/>
                </a:solidFill>
              </a:rPr>
              <a:t>): След одобрение на заявлението, агенцията издава акт, който удостоверява регистрацията.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 sz="1200">
                <a:solidFill>
                  <a:schemeClr val="dk1"/>
                </a:solidFill>
              </a:rPr>
              <a:t>Заявление</a:t>
            </a:r>
            <a:r>
              <a:rPr lang="en" sz="1200">
                <a:solidFill>
                  <a:schemeClr val="dk1"/>
                </a:solidFill>
              </a:rPr>
              <a:t> се регистрира в </a:t>
            </a:r>
            <a:r>
              <a:rPr b="1" lang="en" sz="1200">
                <a:solidFill>
                  <a:schemeClr val="dk1"/>
                </a:solidFill>
              </a:rPr>
              <a:t>Регистър</a:t>
            </a:r>
            <a:r>
              <a:rPr lang="en" sz="1200">
                <a:solidFill>
                  <a:schemeClr val="dk1"/>
                </a:solidFill>
              </a:rPr>
              <a:t> (</a:t>
            </a:r>
            <a:r>
              <a:rPr lang="en" sz="1050">
                <a:solidFill>
                  <a:schemeClr val="dk1"/>
                </a:solidFill>
              </a:rPr>
              <a:t>registeredIn</a:t>
            </a:r>
            <a:r>
              <a:rPr lang="en" sz="1200">
                <a:solidFill>
                  <a:schemeClr val="dk1"/>
                </a:solidFill>
              </a:rPr>
              <a:t>): След като административният акт е издаден, информацията от заявлението се вписва в регистъра.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 sz="1200">
                <a:solidFill>
                  <a:schemeClr val="dk1"/>
                </a:solidFill>
              </a:rPr>
              <a:t>Регистър</a:t>
            </a:r>
            <a:r>
              <a:rPr lang="en" sz="1200">
                <a:solidFill>
                  <a:schemeClr val="dk1"/>
                </a:solidFill>
              </a:rPr>
              <a:t> се одитира от </a:t>
            </a:r>
            <a:r>
              <a:rPr b="1" lang="en" sz="1200">
                <a:solidFill>
                  <a:schemeClr val="dk1"/>
                </a:solidFill>
              </a:rPr>
              <a:t>Орган за контрол</a:t>
            </a:r>
            <a:r>
              <a:rPr lang="en" sz="1200">
                <a:solidFill>
                  <a:schemeClr val="dk1"/>
                </a:solidFill>
              </a:rPr>
              <a:t> (</a:t>
            </a:r>
            <a:r>
              <a:rPr lang="en" sz="1050">
                <a:solidFill>
                  <a:schemeClr val="dk1"/>
                </a:solidFill>
              </a:rPr>
              <a:t>auditedBy</a:t>
            </a:r>
            <a:r>
              <a:rPr lang="en" sz="1200">
                <a:solidFill>
                  <a:schemeClr val="dk1"/>
                </a:solidFill>
              </a:rPr>
              <a:t>): Контролният орган проверява регистъра за съответствие със законовите и регулаторните изисквания.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4fdb80bc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b4fdb80bc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Начало на процеса: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>
                <a:solidFill>
                  <a:schemeClr val="dk1"/>
                </a:solidFill>
              </a:rPr>
              <a:t>Заявител подава заявление:</a:t>
            </a:r>
            <a:r>
              <a:rPr lang="en">
                <a:solidFill>
                  <a:schemeClr val="dk1"/>
                </a:solidFill>
              </a:rPr>
              <a:t> Това е първата стъпка в процеса, където заявител инициира заявката за регистрация.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Изпълнителна агенция по лекарствата: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>
                <a:solidFill>
                  <a:schemeClr val="dk1"/>
                </a:solidFill>
              </a:rPr>
              <a:t>Приемане на заявлението:</a:t>
            </a:r>
            <a:r>
              <a:rPr lang="en">
                <a:solidFill>
                  <a:schemeClr val="dk1"/>
                </a:solidFill>
              </a:rPr>
              <a:t> След като заявлението е подадено, то се приема от агенцията за последваща обработка.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>
                <a:solidFill>
                  <a:schemeClr val="dk1"/>
                </a:solidFill>
              </a:rPr>
              <a:t>Проверка на документацията:</a:t>
            </a:r>
            <a:r>
              <a:rPr lang="en">
                <a:solidFill>
                  <a:schemeClr val="dk1"/>
                </a:solidFill>
              </a:rPr>
              <a:t> Агенцията преглежда предоставените документи за пълнота и точност.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>
                <a:solidFill>
                  <a:schemeClr val="dk1"/>
                </a:solidFill>
              </a:rPr>
              <a:t>Условие:</a:t>
            </a:r>
            <a:r>
              <a:rPr lang="en">
                <a:solidFill>
                  <a:schemeClr val="dk1"/>
                </a:solidFill>
              </a:rPr>
              <a:t> Ако документацията е коректна, процесът продължава към следващата стъпка.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>
                <a:solidFill>
                  <a:schemeClr val="dk1"/>
                </a:solidFill>
              </a:rPr>
              <a:t>Условие:</a:t>
            </a:r>
            <a:r>
              <a:rPr lang="en">
                <a:solidFill>
                  <a:schemeClr val="dk1"/>
                </a:solidFill>
              </a:rPr>
              <a:t> Ако документацията е некоректна, заявителят се изисква да предостави допълнителни документи и процесът спира.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>
                <a:solidFill>
                  <a:schemeClr val="dk1"/>
                </a:solidFill>
              </a:rPr>
              <a:t>Подготовка на административен акт:</a:t>
            </a:r>
            <a:r>
              <a:rPr lang="en">
                <a:solidFill>
                  <a:schemeClr val="dk1"/>
                </a:solidFill>
              </a:rPr>
              <a:t> При положителна проверка, агенцията подготвя необходимите документи за издаване на административен акт.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>
                <a:solidFill>
                  <a:schemeClr val="dk1"/>
                </a:solidFill>
              </a:rPr>
              <a:t>Издаване на административен акт:</a:t>
            </a:r>
            <a:r>
              <a:rPr lang="en">
                <a:solidFill>
                  <a:schemeClr val="dk1"/>
                </a:solidFill>
              </a:rPr>
              <a:t> След подготовката на акта, агенцията официално го издава.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Регистър: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>
                <a:solidFill>
                  <a:schemeClr val="dk1"/>
                </a:solidFill>
              </a:rPr>
              <a:t>Регистрация на заявителя:</a:t>
            </a:r>
            <a:r>
              <a:rPr lang="en">
                <a:solidFill>
                  <a:schemeClr val="dk1"/>
                </a:solidFill>
              </a:rPr>
              <a:t> След като административният акт е издаден, заявителят се регистрира в съответния регистър.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Край на процеса: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>
                <a:solidFill>
                  <a:schemeClr val="dk1"/>
                </a:solidFill>
              </a:rPr>
              <a:t>Информиране на заявителя за регистрацията:</a:t>
            </a:r>
            <a:r>
              <a:rPr lang="en">
                <a:solidFill>
                  <a:schemeClr val="dk1"/>
                </a:solidFill>
              </a:rPr>
              <a:t> На последния етап, заявителят получава информация за успешната регистрация. Това завършва процеса на регистрация.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b4fdb80bc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b4fdb80bc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Участници: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>
                <a:solidFill>
                  <a:schemeClr val="dk1"/>
                </a:solidFill>
              </a:rPr>
              <a:t>Заявител:</a:t>
            </a:r>
            <a:r>
              <a:rPr lang="en">
                <a:solidFill>
                  <a:schemeClr val="dk1"/>
                </a:solidFill>
              </a:rPr>
              <a:t> Лицето, което инициира процеса, като подава заявление за регистрация.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>
                <a:solidFill>
                  <a:schemeClr val="dk1"/>
                </a:solidFill>
              </a:rPr>
              <a:t>Изпълнителна агенция по лекарствата (Агенция):</a:t>
            </a:r>
            <a:r>
              <a:rPr lang="en">
                <a:solidFill>
                  <a:schemeClr val="dk1"/>
                </a:solidFill>
              </a:rPr>
              <a:t> Орган, който приема заявлението и извършва необходимите проверки и процедури за регистрация.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>
                <a:solidFill>
                  <a:schemeClr val="dk1"/>
                </a:solidFill>
              </a:rPr>
              <a:t>Регистър:</a:t>
            </a:r>
            <a:r>
              <a:rPr lang="en">
                <a:solidFill>
                  <a:schemeClr val="dk1"/>
                </a:solidFill>
              </a:rPr>
              <a:t> Система или база данни, която записва регистрацията на заявителя.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 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Взаимодействия и действия: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">
                <a:solidFill>
                  <a:schemeClr val="dk1"/>
                </a:solidFill>
              </a:rPr>
              <a:t>Подаване на заявление: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Заявителят подава заявление към Агенцията.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">
                <a:solidFill>
                  <a:schemeClr val="dk1"/>
                </a:solidFill>
              </a:rPr>
              <a:t>Проверка на документацията: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Агенцията получава заявлението и проверява приложените документи за пълнота и точност.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">
                <a:solidFill>
                  <a:schemeClr val="dk1"/>
                </a:solidFill>
              </a:rPr>
              <a:t>Издаване на административен акт (в случай на коректна документация):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Ако документацията е коректна, Агенцията процедира с издаването на административен акт.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Агенцията изпраща информация към Регистъра за регистрация на заявителя.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Регистърът регистрира заявителя и подготвя уведомление.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Регистърът изпраща уведомление за регистрацията обратно към заявителя.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">
                <a:solidFill>
                  <a:schemeClr val="dk1"/>
                </a:solidFill>
              </a:rPr>
              <a:t>Изискване на допълнителни документи (в случай на некоректна документация):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Ако документацията е некоректна, Агенцията уведомява заявителя, че са необходими допълнителни документи.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Процесът спира, докато не се получат необходимите допълнителни документи.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Алтернативни потоци: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В случай на некоректна документация, заявителят има възможност да коригира и допълни заявлението си. Ако това не се случи в определен срок, процесът може да бъде прекратен.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Завършване на процеса: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Процесът завършва с уведомление към заявителя за регистрация или със заявка за допълнителни документи.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Диаграмата на взаимодействията и придружаващата документация предоставят цялостна картина на процеса от началото до края, като подчертават ключовите точки на комуникация и взаимодействие между заявителите и агенцията, отговорна за регистрацията.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b4fdb80bc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b4fdb80bc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Състояния и преходи: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b="1" lang="en">
                <a:solidFill>
                  <a:schemeClr val="dk1"/>
                </a:solidFill>
              </a:rPr>
              <a:t>Начално състояние ([*]):</a:t>
            </a:r>
            <a:endParaRPr b="1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Точката, от която започва процесът на заявлението.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b="1" lang="en">
                <a:solidFill>
                  <a:schemeClr val="dk1"/>
                </a:solidFill>
              </a:rPr>
              <a:t>Състояние "Ново":</a:t>
            </a:r>
            <a:endParaRPr b="1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>
                <a:solidFill>
                  <a:schemeClr val="dk1"/>
                </a:solidFill>
              </a:rPr>
              <a:t>Описание:</a:t>
            </a:r>
            <a:r>
              <a:rPr lang="en">
                <a:solidFill>
                  <a:schemeClr val="dk1"/>
                </a:solidFill>
              </a:rPr>
              <a:t> Заявлението е подадено и чака обработка.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Преходи: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Към "В_проверка": Автоматичен преход към процеса на проверка след подаване на заявлението.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b="1" lang="en">
                <a:solidFill>
                  <a:schemeClr val="dk1"/>
                </a:solidFill>
              </a:rPr>
              <a:t>Състояние "В_проверка":</a:t>
            </a:r>
            <a:endParaRPr b="1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>
                <a:solidFill>
                  <a:schemeClr val="dk1"/>
                </a:solidFill>
              </a:rPr>
              <a:t>Описание:</a:t>
            </a:r>
            <a:r>
              <a:rPr lang="en">
                <a:solidFill>
                  <a:schemeClr val="dk1"/>
                </a:solidFill>
              </a:rPr>
              <a:t> В този етап заявлението се преглежда за точност и пълнота на документацията.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Преходи: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Към "Отхвърлено": Ако документацията е некоректна, заявлението се отхвърля.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Към "Одобрено": Ако документацията е коректна, заявлението се одобрява.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b="1" lang="en">
                <a:solidFill>
                  <a:schemeClr val="dk1"/>
                </a:solidFill>
              </a:rPr>
              <a:t>Състояние "Отхвърлено":</a:t>
            </a:r>
            <a:endParaRPr b="1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>
                <a:solidFill>
                  <a:schemeClr val="dk1"/>
                </a:solidFill>
              </a:rPr>
              <a:t>Описание:</a:t>
            </a:r>
            <a:r>
              <a:rPr lang="en">
                <a:solidFill>
                  <a:schemeClr val="dk1"/>
                </a:solidFill>
              </a:rPr>
              <a:t> Състояние, в което заявлението е отхвърлено поради недостатъчна или некоректна документация.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Преходи: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Към начално състояние ([*]): Процесът завършва и заявлението се счита за неуспешно.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b="1" lang="en">
                <a:solidFill>
                  <a:schemeClr val="dk1"/>
                </a:solidFill>
              </a:rPr>
              <a:t>Състояние "Одобрено":</a:t>
            </a:r>
            <a:endParaRPr b="1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>
                <a:solidFill>
                  <a:schemeClr val="dk1"/>
                </a:solidFill>
              </a:rPr>
              <a:t>Описание:</a:t>
            </a:r>
            <a:r>
              <a:rPr lang="en">
                <a:solidFill>
                  <a:schemeClr val="dk1"/>
                </a:solidFill>
              </a:rPr>
              <a:t> Заявлението е одобрено и готово за регистрация в системата.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Преходи: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Към "В_регистър": Следващата стъпка е вписването на заявлението в регистъра.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b="1" lang="en">
                <a:solidFill>
                  <a:schemeClr val="dk1"/>
                </a:solidFill>
              </a:rPr>
              <a:t>Състояние "В_регистър":</a:t>
            </a:r>
            <a:endParaRPr b="1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>
                <a:solidFill>
                  <a:schemeClr val="dk1"/>
                </a:solidFill>
              </a:rPr>
              <a:t>Описание:</a:t>
            </a:r>
            <a:r>
              <a:rPr lang="en">
                <a:solidFill>
                  <a:schemeClr val="dk1"/>
                </a:solidFill>
              </a:rPr>
              <a:t> Процедура по вписване на одобреното заявление в регистъра.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Преходи: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Към "Регистрирано": Успешното регистриране в системата.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b="1" lang="en">
                <a:solidFill>
                  <a:schemeClr val="dk1"/>
                </a:solidFill>
              </a:rPr>
              <a:t>Състояние "Регистрирано":</a:t>
            </a:r>
            <a:endParaRPr b="1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>
                <a:solidFill>
                  <a:schemeClr val="dk1"/>
                </a:solidFill>
              </a:rPr>
              <a:t>Описание:</a:t>
            </a:r>
            <a:r>
              <a:rPr lang="en">
                <a:solidFill>
                  <a:schemeClr val="dk1"/>
                </a:solidFill>
              </a:rPr>
              <a:t> Заявлението е успешно регистрирано в системата.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Преходи: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Към начално състояние ([*]): Процесът по регистрация е завършен, и заявлението е успешно обработено.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Обобщение: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Диаграмата на състоянията представя жизнения цикъл на заявлението за регистрация, започващо от подаването му, преминаващо през процеса на проверка и завършващо с регистрация или отхвърляне.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Преходите между състоянията са задвижвани от резултатите от проверката на документацията.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Всяко състояние има ясно определен изход, който води до следващата стъпка в процеса или до края на процеса.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Тази документация е полезна при анализа и разработването на софтуерни системи, тъй като осигурява ясна рамка за разбиране на всички възможни сценарии, които могат да възникнат през жизнения цикъл на заявлението. Тя позволява на разработчиците да предвидят и програмират подходящи реакции на системата за всеки възможен изход от процеса на проверка на заявленията.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Заключение: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Диаграмата на състоянията представлява важен инструмент за моделиране на поведението на системата по отношение на заявленията за регистрация.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lang="en" sz="70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chemeClr val="dk1"/>
                </a:solidFill>
              </a:rPr>
              <a:t>Описаните състояния и преходи между тях дават възможност за планиране на системни отговори, обработка на грешки и подобряване на потребителския опит, като същевременно се поддържа последователност и точност в обработката на данни.</a:t>
            </a:r>
            <a:endParaRPr>
              <a:solidFill>
                <a:schemeClr val="dk1"/>
              </a:solidFill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Това дава възможност за създаването на надеждни и ефективни процеси в рамките на системата за регистрация, като същевременно се улеснява поддръжката и разширяемостта на системата.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4fdb80bc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4fdb80bc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2358 Издаване на удостоверения за регистрация на лицата, осъществяващи дейности по предоставяне и ремонт на помощни средства, приспособления, съоръжения и медицински изделия за хората с увреждания</a:t>
            </a:r>
            <a:endParaRPr sz="28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Изготвил: Стоян Тинчев, ИС, група 2, 3MI0700193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875" y="152400"/>
            <a:ext cx="7958241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05375"/>
            <a:ext cx="8839201" cy="393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67325"/>
            <a:ext cx="8839200" cy="1588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255825"/>
            <a:ext cx="8816274" cy="119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 диаграма на класовете</a:t>
            </a:r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5400" y="1120000"/>
            <a:ext cx="3393199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 диаграма на действията</a:t>
            </a:r>
            <a:endParaRPr/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9363" y="1136700"/>
            <a:ext cx="3605275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 диаграма на взаимодействията</a:t>
            </a:r>
            <a:endParaRPr/>
          </a:p>
        </p:txBody>
      </p:sp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850" y="1186825"/>
            <a:ext cx="690431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 диаграма на състоянията</a:t>
            </a:r>
            <a:endParaRPr/>
          </a:p>
        </p:txBody>
      </p:sp>
      <p:pic>
        <p:nvPicPr>
          <p:cNvPr id="95" name="Google Shape;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7438" y="1175700"/>
            <a:ext cx="3269134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Благодаря за вниманието!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